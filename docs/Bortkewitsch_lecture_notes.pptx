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빈도 분포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연대-연도 수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49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6B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8D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0명</c:v>
                  </c:pt>
                  <c:pt idx="1">
                    <c:v>1명</c:v>
                  </c:pt>
                  <c:pt idx="2">
                    <c:v>2명</c:v>
                  </c:pt>
                  <c:pt idx="3">
                    <c:v>3명</c:v>
                  </c:pt>
                  <c:pt idx="4">
                    <c:v>4명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144</c:v>
                </c:pt>
                <c:pt idx="1">
                  <c:v>91</c:v>
                </c:pt>
                <c:pt idx="2">
                  <c:v>32</c:v>
                </c:pt>
                <c:pt idx="3">
                  <c:v>11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안녕하세요. 데이터과학입문 8주차 시작하겠습니다. 오늘 주제는 'Bortkewitsch 의 말발굽 자료로 보는 누적분포 윗면적과 기댓값의 관계' 입니다. 19세기 후반 프러시아 기병대에서 14개 연대, 20년치를 모은 280개 관측 — 말이 한 번 차서 죽은 병사 수 — 라는 좀 섬뜩한 숫자가 어쩌다 통계학 교과서 150년의 단골 예제가 됐는지, 그리고 그 작은 표 한 장에서 기댓값이라는 추상 개념이 어떻게 '계단 위쪽 빈 면적' 이라는 그림으로 살아나는지 따라가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사람부터. Bortkewitsch — Ladislaus Josephovich. 1868년 러시아 출생, 베를린 대학 교수입니다. 1898년 출간한 책 《희귀 사건의 법칙(Das Gesetz der kleinen Zahlen)》에서 포아송 분포가 실제 데이터에 진짜로 잘 맞는다는 걸 처음 실증해 보였습니다. 그 책에서 든 가장 유명한 예시가 이 말발굽 자료고, 지금도 R 의 pscl 패키지에 prussian 이라는 이름으로 그대로 들어 있어 한 줄로 불러올 수 있습니다. 19세기 기병대에선 말이 차서 죽는 게 의외로 흔한 사고였고, 군이 연대별로 꼼꼼히 기록해 두었던 게 통계학자 손에 들어간 셈이죠.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자료는 이렇게 생겼습니다. 14개 연대(corps) 가 행, 1875–1894 의 20년이 열, 셀 값은 그 해 그 연대에서 말발굽으로 사망한 병사 수. 14 × 20 = 280 개 관측이고, 셀 값은 대부분 0, 가끔 1, 드물게 2~4. 0이 압도적으로 많고 한 명, 두 명 죽은 해는 점차 드물어지죠. 이 빈도 분포를 정리해 'k 명 사망한 셀이 몇 개나 되더냐' 를 세면 0번이 144셀, 1번이 91셀, 2번이 32셀, 3번이 11셀, 4번이 2셀 — 깔끔한 형태로 떨어집니다.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분포가 왜 포아송으로 잘 맞을까. 포아송의 세 조건 — ① 사건이 서로 독립, ② 단위 시간·공간당 발생 확률이 매우 낮음, ③ 노출 위험이 균일 — 을 말발굽 사고는 거의 만족합니다. 한 연대 사고가 옆 연대에 영향을 주지 않고, 매년 수만 번 말과 접촉하는 가운데 사망 사고는 0~4건으로 희소하고, 연대 환경도 비슷합니다. 그래서 λ = 0.700 (평균 한 셀당 사망자 수) 인 포아송으로 P(X=k) 를 계산해 실제 빈도와 견주면 0~4 명 모든 구간에서 신기하게 잘 맞아떨어지죠.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기댓값을 한번 복습합시다. 정의는 E[X] = Σ k · P(X=k) — 가능한 값 k 에 그 확률을 곱해서 모두 더한 것. 말발굽 자료에 직접 대입하면 0×0.514 + 1×0.325 + 2×0.114 + 3×0.039 + 4×0.007 = 0.698 ≈ 0.700. 즉 프러시아 기병 한 연대에서 1년에 평균 0.7 명이 말에 차여 죽었다 — 가 이 자료의 평균입니다. 여기까진 별 새로울 게 없는, 우리가 늘 써 오던 기댓값 공식이에요.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시각을 살짝 바꿉니다. 누적분포 F(k) = P(X≤k), 그리고 그 보완확률 1 - F(k) = P(X&gt;k) = P(X≥k+1). 표를 가만히 보면 — k=0 에서 1-F(0) = 0.486, k=1 에서 0.161, k=2 에서 0.046, k=3 에서 0.007. 이 네 값을 더하면 0.486 + 0.161 + 0.046 + 0.007 = 0.700 — 어, 이게 또 E[X] 와 같습니다. 우연이 아닙니다. 방금 계산한 'Σ k·P(X=k) = 0.700' 과 'Σ P(X≥k+1) = 0.700' — 이 두 합이 왜 같은가, 가 오늘의 핵심이에요.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증명은 한 줄짜리 항 정리로 끝납니다. E[X] = Σ k·P(X=k) 에서 k=0 항은 0이니 떼어내고, 1·P(1) + 2·P(2) + 3·P(3) + 4·P(4) 만 남죠. 이걸 — 1을 한 번, 2를 두 번, 3을 세 번, 4를 네 번 — 같은 항을 풀어 써서 다시 모으면, P(X≥1) + P(X≥2) + P(X≥3) + P(X≥4) 가 됩니다. 이게 바로 [1-F(0)] + [1-F(1)] + [1-F(2)] + [1-F(3)]. 즉 누적분포 위쪽 — '1까지 남은 거리' — 들의 합이 곧 기댓값. 한 줄짜리 항 재배열인데 시각화가 단번에 바뀝니다.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누적분포를 그림으로 봅시다. x 축은 k = 0, 1, 2, 3, 4, y 축은 F(k) = P(X≤k). k=0 에서 51.4 %, k=1 에서 83.9, k=2 에서 95.4, k=3 에서 99.3, k=4 에서 100. 점만 찍는 게 아니라 계단으로 그리는 게 이산형의 정확한 표현 — k 와 k+1 사이는 평평한 수평선이고, 정수 k 에서만 점프가 일어나죠. 이 계단 위쪽이 1까지 얼마나 떨어져 있는지 — 그 '빈 공간' 이 우리가 더하려는 양입니다.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빈 공간에 직사각형을 채워 보면 메시지가 살아납니다. k=0 칸의 위쪽 빈 면적은 1 - F(0) = 0.486, k=1 칸은 0.161, k=2 칸은 0.046, k=3 칸은 0.007. 가로 폭은 모두 1이니 면적이 곧 높이. 네 직사각형 면적의 합 = 0.486 + 0.161 + 0.046 + 0.007 = 0.700 = E[X]. '평균은 막대그래프의 무게중심' 이라는 익숙한 이미지 외에 — '누적분포 위쪽 빈 면적의 총합' 이라는 두 번째 그림이 추가된 셈이에요. 두 시각이 같은 숫자를 가리키는 게 오늘의 한 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 로 직접 해 보겠습니다. tidyverse 와 pscl 을 부르고 data(prussian) 한 줄이면 자료 로딩 끝. 거기서 group_by(y) — 사망자 수 별로 묶어서 — count 를 세고, 비율로 나누어 P(X=k) 를 만든 다음 cumsum() 으로 F(k) 를 얻습니다. 1 - F(k) 열을 추가하면 그게 바로 우리가 쓸 보완확률. 한 줄 한 줄이 의미 있지만, 핵심은 cumsum(prob) 한 번이면 누적분포가 만들어진다는 점이에요. 지난번 Lorenz 강의의 cumsum() 을 한 번 더 만나는 셈이죠.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그림 그리는 코드는 약간 묘기에요. horsekick_plot_v2.R 로 기본 계단함수를 깔고, 그 위에 직사각형 네 개를 polygon 으로 얹습니다. poly_x_2 행렬은 각 직사각형의 네 꼭지점 x 좌표 — k 번째 박스는 [k-1, k, k, k-1], poly_y_2 는 위아래 좌표 — 1, 1, F(k-1), F(k-1) — 의 매트릭스. 4 × 4 매트릭스를 한 번에 polygon() 에 넘기면 네 박스가 동시에 그려지고, 각 박스 위에 0.486, 0.161, 0.046, 0.007 라벨을 달면 합 = 0.700 이 한 눈에 들어옵니다.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오늘의 핵심을 한 줄로. 비음정수 확률변수에 대해 E[X] = Σ_{k≥1} P(X≥k) — 즉 누적분포 위쪽 면적의 합이 곧 기댓값입니다. 시각적 해석은 두 가지 — ① k 단위로 자른 직사각형 k·P(X=k) 의 합, ② 계단 위쪽 P(X≥k) 의 합. 두 면적은 항상 같습니다. 지난 시간 Lorenz Curve 의 '누적분포 윗면적 = 평균' 명제와 정확히 같은 정리예요. 연속형 소득에서도, 이산형 사망 횟수에서도, 같은 모양으로 들어맞는다 — 이게 데이터 종류를 가리지 않는 통계학적 공통 패턴의 힘이고, 오늘 한 시간의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2514600"/>
            <a:ext cx="9025128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말발굽에 채여 죽은 병사들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Bortkewitsch 데이터로 배우는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12140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누적분포 윗면적  =  기댓값 E[X]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데이터사이언스 입문  |  확률분포론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310128"/>
            <a:ext cx="1965960" cy="1371600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558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" y="4041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연대-연도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23744" y="3310128"/>
            <a:ext cx="1965960" cy="1371600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33558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23744" y="4041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기병 연대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81728" y="3310128"/>
            <a:ext cx="1965960" cy="1371600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33558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81728" y="4041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연도(년)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39712" y="3310128"/>
            <a:ext cx="1965960" cy="1371600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33558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39712" y="4041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연평균 사망자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역사적 배경 — Bortkewitsch와 그의 데이터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91440" cy="39136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Ladislaus Josephovich Bortkewitsch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(1868–1931)  |  러시아 출신 통계학자, 베를린 대학교 교수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저서 《희귀 사건의 법칙》(Das Gesetz der kleinen Zahlen, 1898)에서 포아송 분포의 실증적 적합성을 최초로 입증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59689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말발굽 데이터는 포아송 분포의 가장 유명한 실증 사례로 150년 넘게 통계학 교과서에 등장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34670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R 패키지 pscl의 prussian 데이터셋으로 배포 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6908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91440" cy="3913632"/>
          </a:xfrm>
          <a:prstGeom prst="rect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 배경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417320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1875–1894년, 프러시아 육군 14개 기병 연대 × 20년 = 280 연대-연도 관측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2176272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연대-연도별 말발굽에 채여 사망한 병사 수를 기록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935224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당시 '희귀하고 독립적인 사건'을 다량 확보할 수 있는 이상적인 데이터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3694176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사망자 수 196명, 연평균 0.700명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프러시아 기병대 말발굽 사망 데이터 (1875–1894)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5303520" cy="402336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280160"/>
                <a:gridCol w="1463040"/>
              </a:tblGrid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사망자 수 (k)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연대-연도 수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비율 (%)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누적비율 (%)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144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51.4%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51.4%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32.5%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83.9%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11.4%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95.4%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99.3%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0.7%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100.0%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합 계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280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100.0%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035040" y="822960"/>
          <a:ext cx="2834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포아송 분포와의 연결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32104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77824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= k)  =  e^{-λ} · λ^k / k!     (λ = 0.700,  k = 0, 1, 2, ...)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포아송(λ=0.700) 적합도 검증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120640" cy="256032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82880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관측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포아송 기댓값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차이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144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139.0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+5.0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97.3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-6.3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34.1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-2.1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7.95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+3.1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1.39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+0.6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755648"/>
            <a:ext cx="3017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755648"/>
            <a:ext cx="91440" cy="3200400"/>
          </a:xfrm>
          <a:prstGeom prst="rect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847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포아송 분포 조건 충족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8076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각 연대-연도는 독립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사망 확률이 매우 낮음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0760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노출 위험(exposure) 균일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4114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평균 발생률 λ ≈ 0.70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기댓값(Expected Value) 복습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321040" cy="658368"/>
          </a:xfrm>
          <a:prstGeom prst="rect">
            <a:avLst/>
          </a:prstGeom>
          <a:solidFill>
            <a:srgbClr val="CADCFC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86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  =  Σ k · P(X = k)  =  0·P(0) + 1·P(1) + 2·P(2) + 3·P(3) + 4·P(4)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말발굽 데이터에 적용: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 × 0.514  +  1 × 0.325  +  2 × 0.114  +  3 × 0.039  +  4 × 0.007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  +  0.325  +  0.228  +  0.117  +  0.028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540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0.698  ≈  0.700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321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7033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 = </a:t>
            </a:r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프러시아 기병 연대에서 연간 평균 0.7명이 말발굽에 채여 사망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누적분포함수(CDF)와 보완확률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F(k) = P(X ≤ k),    1−F(k) = P(X &gt; k) = P(X ≥ k+1)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486400" cy="338328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2560320"/>
              </a:tblGrid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F(k) = P(X ≤ k)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1−F(k) = P(X ≥ k+1)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51.4%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48.6%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83.9%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16.1%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95.4%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4.6%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99.3%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0.7%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100.0%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0.0%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2984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298448"/>
            <a:ext cx="91440" cy="3383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4173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관찰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k=0~3에서 P(X≥k+1) &gt; 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46520" y="27523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오렌지 값들의 합이 E[X]!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46520" y="36301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0.486+0.161+0.046+0.007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4652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0.700 = E[X]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5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누적분포 윗면적  =  기댓값  E[X]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  =  0·P(X=0) + 1·P(X=1) + 2·P(X=2) + 3·P(X=3) + 4·P(X=4)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 1·P(X=1) + 2·P(X=2) + 3·P(X=3) + 4·P(X=4)                          (0항 제거)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 [P(X≥1)] + [P(X≥1)+P(X≥2)] + [P(X≥1)+P(X≥2)+P(X≥3)] + 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 P(X≥1) + P(X≥2) + P(X≥3) + P(X≥4)       ← 누적분포 위쪽 면적의 합!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1985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 [1−F(0)] + [1−F(1)] + [1−F(2)] + [1−F(3)]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41648"/>
            <a:ext cx="8321040" cy="804672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965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확인:  0.486 + 0.161 + 0.046 + 0.007  =  0.700  =  E[X]  ✓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계단함수 시각화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4681728"/>
            <a:ext cx="54406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41248"/>
            <a:ext cx="0" cy="38404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825" y="4571890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7375" y="2075578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28925" y="1197645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0475" y="895783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2025" y="841248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7375" y="2075578"/>
            <a:ext cx="0" cy="249631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828925" y="1197645"/>
            <a:ext cx="0" cy="877934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800475" y="895783"/>
            <a:ext cx="0" cy="30186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72025" y="841248"/>
            <a:ext cx="0" cy="54535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12673" y="449873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4223" y="2002426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55773" y="1124493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7323" y="822631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8873" y="768096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4223" y="4498738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55773" y="2002426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7323" y="1124493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98873" y="822631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5628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9496" y="4681728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45532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9496" y="4574195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1959011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9496" y="2077883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10757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9496" y="1194572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77614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9496" y="895015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722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9496" y="841248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95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1107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826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417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257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0" y="4992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사망자 수 (k)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 rot="16200000">
            <a:off x="0" y="2286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누적비율 F(k)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822960"/>
            <a:ext cx="26060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63640" y="822960"/>
            <a:ext cx="91440" cy="4041648"/>
          </a:xfrm>
          <a:prstGeom prst="rect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914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계단함수 읽는 법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92240" y="1389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k=0 →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69480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F(0)=51.4%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92240" y="1645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0)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19933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→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69480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F(1)=83.9%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92240" y="22494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1)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9224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6948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F(2)=95.4%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92240" y="28529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2)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9224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→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26948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F(3)=99.3%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92240" y="3456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3)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92240" y="38039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→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269480" y="3803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F(4)=100.0%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92240" y="40599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4)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시각화: 누적분포 윗면적 = E[X]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85825" y="841248"/>
            <a:ext cx="971550" cy="3730642"/>
          </a:xfrm>
          <a:prstGeom prst="rect">
            <a:avLst/>
          </a:prstGeom>
          <a:solidFill>
            <a:srgbClr val="9B8DC8">
              <a:alpha val="75000"/>
            </a:srgbClr>
          </a:solidFill>
          <a:ln w="6350">
            <a:solidFill>
              <a:srgbClr val="9B8D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7375" y="841248"/>
            <a:ext cx="971550" cy="1234330"/>
          </a:xfrm>
          <a:prstGeom prst="rect">
            <a:avLst/>
          </a:prstGeom>
          <a:solidFill>
            <a:srgbClr val="7B6BB0">
              <a:alpha val="75000"/>
            </a:srgbClr>
          </a:solidFill>
          <a:ln w="6350">
            <a:solidFill>
              <a:srgbClr val="7B6B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28925" y="841248"/>
            <a:ext cx="971550" cy="356397"/>
          </a:xfrm>
          <a:prstGeom prst="rect">
            <a:avLst/>
          </a:prstGeom>
          <a:solidFill>
            <a:srgbClr val="5B4998">
              <a:alpha val="75000"/>
            </a:srgbClr>
          </a:solidFill>
          <a:ln w="6350">
            <a:solidFill>
              <a:srgbClr val="5B49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0475" y="841248"/>
            <a:ext cx="971550" cy="54535"/>
          </a:xfrm>
          <a:prstGeom prst="rect">
            <a:avLst/>
          </a:prstGeom>
          <a:solidFill>
            <a:srgbClr val="1E2761">
              <a:alpha val="75000"/>
            </a:srgbClr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5825" y="841248"/>
            <a:ext cx="3886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94360" y="4681728"/>
            <a:ext cx="54406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841248"/>
            <a:ext cx="0" cy="38404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5825" y="4571890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57375" y="2075578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1197645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0475" y="895783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2025" y="841248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57375" y="2075578"/>
            <a:ext cx="0" cy="249631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828925" y="1197645"/>
            <a:ext cx="0" cy="877934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800475" y="895783"/>
            <a:ext cx="0" cy="30186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72025" y="841248"/>
            <a:ext cx="0" cy="54535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12673" y="449873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84223" y="2002426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55773" y="1124493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7323" y="822631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8873" y="768096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84223" y="4498738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55773" y="2002426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7323" y="1124493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8873" y="822631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5628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" y="4681728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45532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9496" y="4574195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1959011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9496" y="2077883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10757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9496" y="1194572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77614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9496" y="895015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722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9496" y="841248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95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1107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826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417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257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286000" y="4992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사망자 수 (k)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 rot="16200000">
            <a:off x="0" y="2286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누적비율 F(k)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82296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63640" y="822960"/>
            <a:ext cx="91440" cy="3246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914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분해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492240" y="1371600"/>
            <a:ext cx="292608" cy="292608"/>
          </a:xfrm>
          <a:prstGeom prst="rect">
            <a:avLst/>
          </a:prstGeom>
          <a:solidFill>
            <a:srgbClr val="9B8DC8">
              <a:alpha val="75000"/>
            </a:srgbClr>
          </a:solidFill>
          <a:ln w="12700">
            <a:solidFill>
              <a:srgbClr val="9B8D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P(X≥1) = 48.6%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492240" y="1965960"/>
            <a:ext cx="292608" cy="292608"/>
          </a:xfrm>
          <a:prstGeom prst="rect">
            <a:avLst/>
          </a:prstGeom>
          <a:solidFill>
            <a:srgbClr val="7B6BB0">
              <a:alpha val="75000"/>
            </a:srgbClr>
          </a:solidFill>
          <a:ln w="12700">
            <a:solidFill>
              <a:srgbClr val="7B6BB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03720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P(X≥2) = 16.1%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492240" y="2560320"/>
            <a:ext cx="292608" cy="292608"/>
          </a:xfrm>
          <a:prstGeom prst="rect">
            <a:avLst/>
          </a:prstGeom>
          <a:solidFill>
            <a:srgbClr val="5B4998">
              <a:alpha val="75000"/>
            </a:srgbClr>
          </a:solidFill>
          <a:ln w="12700">
            <a:solidFill>
              <a:srgbClr val="5B499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P(X≥3) =  4.6%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92240" y="3154680"/>
            <a:ext cx="292608" cy="292608"/>
          </a:xfrm>
          <a:prstGeom prst="rect">
            <a:avLst/>
          </a:prstGeom>
          <a:solidFill>
            <a:srgbClr val="1E2761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3154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P(X≥4) =  0.7%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263640" y="4187952"/>
            <a:ext cx="26060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63640" y="42336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 = 70.0%  →  E[X] = 0.700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코드 ① — 데이터 로딩 및 누적분포 계산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160520" cy="40416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데이터 로딩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library(tidyverse); library(pscl)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library(magrittr)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data(prussian)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horsekick &lt;- prussian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group_by(y)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summarise(Count = n())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rename(Deaths = y, Corps = Count)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비율 &amp; 누적비율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horsekick$Perc &lt;- horsekick$Corps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`/`(sum(.)) %&gt;% `*`(100)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horsekick$Cum  &lt;- horsekick$Perc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cumsum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40416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50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기댓값 두 가지 계산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방법 1: 정의대로 직접 계산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horsekick %$%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sum(Deaths * Perc / 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0.7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방법 2: 누적분포 윗면적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P(X&gt;=1) + P(X&gt;=2) + P(X&gt;=3) + P(X&gt;=4)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100 - horsekick$Cum[1:4]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48.57  16.07  4.64  0.71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sum(100 - horsekick$Cum[1:4]) /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0.7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두 방법 모두 E[X] = 0.700 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코드 ② — 누적분포 윗면적 시각화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0416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horsekick_plot_v2.R + 면적 시각화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138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source("horsekick_plot_v2.R")   # 기본 계단함수 플롯 생성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면적 좌표 계산 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poly_x_2 &lt;- matrix(c(0:3, rep(1:4, 2), 0:3), ncol = 4, byrow = 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 k: x = [k-1, k, k, k-1]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poly_y_2 &lt;- rbind(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sapply(horsekick$Cum[1:4], rep, 2),           # 아랫변 = F(k-1)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matrix(rep(horsekick$Cum[5], 8), nrow = 2)    # 윗변  = 100%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poly_xy_2 &lt;- rbind(poly_x_2, poly_y_2)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빗금 사각형으로 P(X&gt;=k) 면적 표시 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apply(h_xy, MARGIN = 1, FUN = l_xy)   # 수평 기준선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mapply(polygon,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lapply(data.frame(poly_xy_2),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function(v) cbind(v[1:4], v[5:8])),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density = 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angle   = c(45, 135, 45, 135),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border  = NA)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면적의 합 = sum(P(X &gt;= k)) = E[X] = 0.700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및 결론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804672"/>
          </a:xfrm>
          <a:prstGeom prst="rect">
            <a:avLst/>
          </a:prstGeom>
          <a:solidFill>
            <a:srgbClr val="2D3F8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9144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Bortkewitsch 데이터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33502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1898년 수집된 역사적 데이터 — 포아송 분포의 가장 유명한 실증 사례 (λ ≈ 0.70)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8412480" cy="804672"/>
          </a:xfrm>
          <a:prstGeom prst="rect">
            <a:avLst/>
          </a:prstGeom>
          <a:solidFill>
            <a:srgbClr val="2D3F8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47672"/>
            <a:ext cx="9144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65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CDF와 기댓값의 관계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29514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비음정수 확률변수의 경우 E[X] = Σ_{k≥1} P(X ≥ k) = CDF 위쪽 면적의 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2D3F8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07792"/>
            <a:ext cx="9144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26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시각적 해석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25526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직사각형 k·P(X=k)의 합     ② 계단 위쪽 P(X≥k)의 합 — 두 면적은 동일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867912"/>
            <a:ext cx="8412480" cy="804672"/>
          </a:xfrm>
          <a:prstGeom prst="rect">
            <a:avLst/>
          </a:prstGeom>
          <a:solidFill>
            <a:srgbClr val="2D3F8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67912"/>
            <a:ext cx="9144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86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데이터가 좋은 이유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21538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0~4로 작아 시각화가 쉽고, 이론(포아송)과 실제가 잘 맞아 직관을 강화함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Bortkewitsch의 말발굽 데이터</dc:title>
  <dc:subject>PptxGenJS Presentation</dc:subject>
  <dc:creator>PptxGenJS</dc:creator>
  <cp:lastModifiedBy>PptxGenJS</cp:lastModifiedBy>
  <cp:revision>1</cp:revision>
  <dcterms:created xsi:type="dcterms:W3CDTF">2026-04-17T10:01:37Z</dcterms:created>
  <dcterms:modified xsi:type="dcterms:W3CDTF">2026-04-17T10:01:37Z</dcterms:modified>
</cp:coreProperties>
</file>