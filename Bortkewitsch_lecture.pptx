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빈도 분포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연대-연도 수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49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6B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8D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0명</c:v>
                  </c:pt>
                  <c:pt idx="1">
                    <c:v>1명</c:v>
                  </c:pt>
                  <c:pt idx="2">
                    <c:v>2명</c:v>
                  </c:pt>
                  <c:pt idx="3">
                    <c:v>3명</c:v>
                  </c:pt>
                  <c:pt idx="4">
                    <c:v>4명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144</c:v>
                </c:pt>
                <c:pt idx="1">
                  <c:v>91</c:v>
                </c:pt>
                <c:pt idx="2">
                  <c:v>32</c:v>
                </c:pt>
                <c:pt idx="3">
                  <c:v>11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2514600"/>
            <a:ext cx="9025128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말발굽에 채여 죽은 병사들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Bortkewitsch 데이터로 배우는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12140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누적분포 윗면적  =  기댓값 E[X]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데이터사이언스 입문  |  확률분포론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310128"/>
            <a:ext cx="1965960" cy="1371600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558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4041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연대-연도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23744" y="3310128"/>
            <a:ext cx="1965960" cy="1371600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33558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23744" y="4041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기병 연대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1728" y="3310128"/>
            <a:ext cx="1965960" cy="1371600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33558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81728" y="4041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연도(년)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39712" y="3310128"/>
            <a:ext cx="1965960" cy="1371600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3558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39712" y="4041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연평균 사망자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역사적 배경 — Bortkewitsch와 그의 데이터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91440" cy="39136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Ladislaus Josephovich Bortkewitsch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(1868–1931)  |  러시아 출신 통계학자, 베를린 대학교 교수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저서 《희귀 사건의 법칙》(Das Gesetz der kleinen Zahlen, 1898)에서 포아송 분포의 실증적 적합성을 최초로 입증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59689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말발굽 데이터는 포아송 분포의 가장 유명한 실증 사례로 150년 넘게 통계학 교과서에 등장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34670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R 패키지 pscl의 prussian 데이터셋으로 배포 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6908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91440" cy="3913632"/>
          </a:xfrm>
          <a:prstGeom prst="rect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 배경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417320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1875–1894년, 프러시아 육군 14개 기병 연대 × 20년 = 280 연대-연도 관측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2176272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연대-연도별 말발굽에 채여 사망한 병사 수를 기록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935224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당시 '희귀하고 독립적인 사건'을 다량 확보할 수 있는 이상적인 데이터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3694176"/>
            <a:ext cx="3657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사망자 수 196명, 연평균 0.700명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프러시아 기병대 말발굽 사망 데이터 (1875–1894)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5303520" cy="402336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280160"/>
                <a:gridCol w="1463040"/>
              </a:tblGrid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사망자 수 (k)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연대-연도 수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비율 (%)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누적비율 (%)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144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51.4%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51.4%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32.5%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83.9%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11.4%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95.4%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99.3%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0.7%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100.0%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합 계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280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100.0%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035040" y="822960"/>
          <a:ext cx="2834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포아송 분포와의 연결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3210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77824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= k)  =  e^{-λ} · λ^k / k!     (λ = 0.700,  k = 0, 1, 2, ...)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포아송(λ=0.700) 적합도 검증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120640" cy="256032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82880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관측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포아송 기댓값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차이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144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139.0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+5.0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97.3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-6.3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34.1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-2.1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7.95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+3.1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1.39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+0.6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755648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755648"/>
            <a:ext cx="91440" cy="3200400"/>
          </a:xfrm>
          <a:prstGeom prst="rect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847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포아송 분포 조건 충족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8076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각 연대-연도는 독립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사망 확률이 매우 낮음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노출 위험(exposure) 균일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4114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평균 발생률 λ ≈ 0.70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기댓값(Expected Value) 복습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321040" cy="658368"/>
          </a:xfrm>
          <a:prstGeom prst="rect">
            <a:avLst/>
          </a:prstGeom>
          <a:solidFill>
            <a:srgbClr val="CADCFC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869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  =  Σ k · P(X = k)  =  0·P(0) + 1·P(1) + 2·P(2) + 3·P(3) + 4·P(4)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말발굽 데이터에 적용: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× 0.514  +  1 × 0.325  +  2 × 0.114  +  3 × 0.039  +  4 × 0.007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 +  0.325  +  0.228  +  0.117  +  0.028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0.698  ≈  0.700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321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7033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 = </a:t>
            </a:r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프러시아 기병 연대에서 연간 평균 0.7명이 말발굽에 채여 사망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누적분포함수(CDF)와 보완확률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F(k) = P(X ≤ k),    1−F(k) = P(X &gt; k) = P(X ≥ k+1)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486400" cy="338328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2560320"/>
              </a:tblGrid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F(k) = P(X ≤ k)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1−F(k) = P(X ≥ k+1)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51.4%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48.6%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83.9%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16.1%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95.4%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4.6%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99.3%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0.7%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100.0%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0.0%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2984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298448"/>
            <a:ext cx="91440" cy="3383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4173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k=0~3에서 P(X≥k+1) &gt; 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46520" y="275234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오렌지 값들의 합이 E[X]!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46520" y="36301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0.486+0.161+0.046+0.007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46520" y="4069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0.700 = E[X]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5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누적분포 윗면적  =  기댓값  E[X]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  =  0·P(X=0) + 1·P(X=1) + 2·P(X=2) + 3·P(X=3) + 4·P(X=4)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 1·P(X=1) + 2·P(X=2) + 3·P(X=3) + 4·P(X=4)                          (0항 제거)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 [P(X≥1)] + [P(X≥1)+P(X≥2)] + [P(X≥1)+P(X≥2)+P(X≥3)] + 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 P(X≥1) + P(X≥2) + P(X≥3) + P(X≥4)       ← 누적분포 위쪽 면적의 합!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1985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 [1−F(0)] + [1−F(1)] + [1−F(2)] + [1−F(3)]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41648"/>
            <a:ext cx="8321040" cy="804672"/>
          </a:xfrm>
          <a:prstGeom prst="rect">
            <a:avLst/>
          </a:prstGeom>
          <a:solidFill>
            <a:srgbClr val="2D3F8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965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확인:  0.486 + 0.161 + 0.046 + 0.007  =  0.700  =  E[X]  ✓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계단함수 시각화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4681728"/>
            <a:ext cx="54406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41248"/>
            <a:ext cx="0" cy="38404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825" y="4571890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7375" y="2075578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28925" y="1197645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0475" y="895783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2025" y="841248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7375" y="2075578"/>
            <a:ext cx="0" cy="249631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28925" y="1197645"/>
            <a:ext cx="0" cy="877934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800475" y="895783"/>
            <a:ext cx="0" cy="30186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72025" y="841248"/>
            <a:ext cx="0" cy="54535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12673" y="449873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4223" y="2002426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55773" y="1124493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7323" y="822631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8873" y="768096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4223" y="4498738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55773" y="2002426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7323" y="1124493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98873" y="822631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5628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9496" y="4681728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45532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9496" y="4574195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1959011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9496" y="2077883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10757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9496" y="1194572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77614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9496" y="895015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722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9496" y="841248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95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1107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826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417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257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0" y="4992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사망자 수 (k)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 rot="16200000">
            <a:off x="0" y="2286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누적비율 F(k)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822960"/>
            <a:ext cx="26060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63640" y="822960"/>
            <a:ext cx="91440" cy="4041648"/>
          </a:xfrm>
          <a:prstGeom prst="rect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914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계단함수 읽는 법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92240" y="1389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k=0 →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69480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F(0)=51.4%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1645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0)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19933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→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6948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F(1)=83.9%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92240" y="22494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1)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69480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F(2)=95.4%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28529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2)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9224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→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26948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F(3)=99.3%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92240" y="3456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3)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92240" y="38039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→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269480" y="3803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F(4)=100.0%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92240" y="40599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≤ 4)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시각화: 누적분포 윗면적 = E[X]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85825" y="841248"/>
            <a:ext cx="971550" cy="3730642"/>
          </a:xfrm>
          <a:prstGeom prst="rect">
            <a:avLst/>
          </a:prstGeom>
          <a:solidFill>
            <a:srgbClr val="9B8DC8">
              <a:alpha val="75000"/>
            </a:srgbClr>
          </a:solidFill>
          <a:ln w="6350">
            <a:solidFill>
              <a:srgbClr val="9B8D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7375" y="841248"/>
            <a:ext cx="971550" cy="1234330"/>
          </a:xfrm>
          <a:prstGeom prst="rect">
            <a:avLst/>
          </a:prstGeom>
          <a:solidFill>
            <a:srgbClr val="7B6BB0">
              <a:alpha val="75000"/>
            </a:srgbClr>
          </a:solidFill>
          <a:ln w="6350">
            <a:solidFill>
              <a:srgbClr val="7B6B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28925" y="841248"/>
            <a:ext cx="971550" cy="356397"/>
          </a:xfrm>
          <a:prstGeom prst="rect">
            <a:avLst/>
          </a:prstGeom>
          <a:solidFill>
            <a:srgbClr val="5B4998">
              <a:alpha val="75000"/>
            </a:srgbClr>
          </a:solidFill>
          <a:ln w="6350">
            <a:solidFill>
              <a:srgbClr val="5B49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0475" y="841248"/>
            <a:ext cx="971550" cy="54535"/>
          </a:xfrm>
          <a:prstGeom prst="rect">
            <a:avLst/>
          </a:prstGeom>
          <a:solidFill>
            <a:srgbClr val="1E2761">
              <a:alpha val="75000"/>
            </a:srgbClr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5825" y="841248"/>
            <a:ext cx="3886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94360" y="4681728"/>
            <a:ext cx="54406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841248"/>
            <a:ext cx="0" cy="38404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5825" y="4571890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57375" y="2075578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1197645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0475" y="895783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2025" y="841248"/>
            <a:ext cx="97155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57375" y="2075578"/>
            <a:ext cx="0" cy="249631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828925" y="1197645"/>
            <a:ext cx="0" cy="877934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800475" y="895783"/>
            <a:ext cx="0" cy="301862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72025" y="841248"/>
            <a:ext cx="0" cy="54535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12673" y="4498738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4223" y="2002426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55773" y="1124493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7323" y="822631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8873" y="768096"/>
            <a:ext cx="146304" cy="14630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84223" y="4498738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55773" y="2002426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7323" y="1124493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8873" y="822631"/>
            <a:ext cx="146304" cy="146304"/>
          </a:xfrm>
          <a:prstGeom prst="ellipse">
            <a:avLst/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5628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" y="4681728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45532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9496" y="4574195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1959011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9496" y="2077883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10757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9496" y="1194572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776143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9496" y="895015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722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9496" y="841248"/>
            <a:ext cx="548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95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1107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826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417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25721" y="47457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286000" y="4992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사망자 수 (k)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 rot="16200000">
            <a:off x="0" y="2286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누적비율 F(k)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82296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63640" y="822960"/>
            <a:ext cx="91440" cy="3246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9144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분해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492240" y="1371600"/>
            <a:ext cx="292608" cy="292608"/>
          </a:xfrm>
          <a:prstGeom prst="rect">
            <a:avLst/>
          </a:prstGeom>
          <a:solidFill>
            <a:srgbClr val="9B8DC8">
              <a:alpha val="75000"/>
            </a:srgbClr>
          </a:solidFill>
          <a:ln w="12700">
            <a:solidFill>
              <a:srgbClr val="9B8D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P(X≥1) = 48.6%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492240" y="1965960"/>
            <a:ext cx="292608" cy="292608"/>
          </a:xfrm>
          <a:prstGeom prst="rect">
            <a:avLst/>
          </a:prstGeom>
          <a:solidFill>
            <a:srgbClr val="7B6BB0">
              <a:alpha val="75000"/>
            </a:srgbClr>
          </a:solidFill>
          <a:ln w="12700">
            <a:solidFill>
              <a:srgbClr val="7B6BB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P(X≥2) = 16.1%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492240" y="2560320"/>
            <a:ext cx="292608" cy="292608"/>
          </a:xfrm>
          <a:prstGeom prst="rect">
            <a:avLst/>
          </a:prstGeom>
          <a:solidFill>
            <a:srgbClr val="5B4998">
              <a:alpha val="75000"/>
            </a:srgbClr>
          </a:solidFill>
          <a:ln w="12700">
            <a:solidFill>
              <a:srgbClr val="5B499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P(X≥3) =  4.6%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92240" y="3154680"/>
            <a:ext cx="292608" cy="292608"/>
          </a:xfrm>
          <a:prstGeom prst="rect">
            <a:avLst/>
          </a:prstGeom>
          <a:solidFill>
            <a:srgbClr val="1E2761">
              <a:alpha val="7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3154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P(X≥4) =  0.7%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263640" y="4187952"/>
            <a:ext cx="26060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63640" y="42336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 = 70.0%  →  E[X] = 0.700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코드 ① — 데이터 로딩 및 누적분포 계산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160520" cy="40416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데이터 로딩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library(tidyverse); library(pscl)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library(magrittr)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data(prussian)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horsekick &lt;- prussian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group_by(y)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summarise(Count = n())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rename(Deaths = y, Corps = Count)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비율 &amp; 누적비율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horsekick$Perc &lt;- horsekick$Corps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`/`(sum(.)) %&gt;% `*`(100)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horsekick$Cum  &lt;- horsekick$Perc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cumsum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40416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50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기댓값 두 가지 계산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방법 1: 정의대로 직접 계산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horsekick %$%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sum(Deaths * Perc / 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0.7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방법 2: 누적분포 윗면적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P(X&gt;=1) + P(X&gt;=2) + P(X&gt;=3) + P(X&gt;=4)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100 - horsekick$Cum[1:4]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48.57  16.07  4.64  0.71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sum(100 - horsekick$Cum[1:4]) /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0.7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두 방법 모두 E[X] = 0.700 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코드 ② — 누적분포 윗면적 시각화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0416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horsekick_plot_v2.R + 면적 시각화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138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source("horsekick_plot_v2.R")   # 기본 계단함수 플롯 생성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면적 좌표 계산 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poly_x_2 &lt;- matrix(c(0:3, rep(1:4, 2), 0:3), ncol = 4, byrow = 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 k: x = [k-1, k, k, k-1]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poly_y_2 &lt;- rbind(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sapply(horsekick$Cum[1:4], rep, 2),           # 아랫변 = F(k-1)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matrix(rep(horsekick$Cum[5], 8), nrow = 2)    # 윗변  = 100%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poly_xy_2 &lt;- rbind(poly_x_2, poly_y_2)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빗금 사각형으로 P(X&gt;=k) 면적 표시 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apply(h_xy, MARGIN = 1, FUN = l_xy)   # 수평 기준선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mapply(polygon,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lapply(data.frame(poly_xy_2),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function(v) cbind(v[1:4], v[5:8])),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density = 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angle   = c(45, 135, 45, 135),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border  = NA)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면적의 합 = sum(P(X &gt;= k)) = E[X] = 0.700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및 결론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804672"/>
          </a:xfrm>
          <a:prstGeom prst="rect">
            <a:avLst/>
          </a:prstGeom>
          <a:solidFill>
            <a:srgbClr val="2D3F8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Bortkewitsch 데이터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33502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1898년 수집된 역사적 데이터 — 포아송 분포의 가장 유명한 실증 사례 (λ ≈ 0.70)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8412480" cy="804672"/>
          </a:xfrm>
          <a:prstGeom prst="rect">
            <a:avLst/>
          </a:prstGeom>
          <a:solidFill>
            <a:srgbClr val="2D3F8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47672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65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CDF와 기댓값의 관계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29514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비음정수 확률변수의 경우 E[X] = Σ_{k≥1} P(X ≥ k) = CDF 위쪽 면적의 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2D3F8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07792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26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시각적 해석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25526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직사각형 k·P(X=k)의 합     ② 계단 위쪽 P(X≥k)의 합 — 두 면적은 동일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867912"/>
            <a:ext cx="8412480" cy="804672"/>
          </a:xfrm>
          <a:prstGeom prst="rect">
            <a:avLst/>
          </a:prstGeom>
          <a:solidFill>
            <a:srgbClr val="2D3F8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67912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86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데이터가 좋은 이유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21538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0~4로 작아 시각화가 쉽고, 이론(포아송)과 실제가 잘 맞아 직관을 강화함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Bortkewitsch의 말발굽 데이터</dc:title>
  <dc:subject>PptxGenJS Presentation</dc:subject>
  <dc:creator>PptxGenJS</dc:creator>
  <cp:lastModifiedBy>PptxGenJS</cp:lastModifiedBy>
  <cp:revision>1</cp:revision>
  <dcterms:created xsi:type="dcterms:W3CDTF">2026-04-17T10:01:37Z</dcterms:created>
  <dcterms:modified xsi:type="dcterms:W3CDTF">2026-04-17T10:01:37Z</dcterms:modified>
</cp:coreProperties>
</file>